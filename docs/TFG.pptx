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iterata" charset="1" panose="00000000000000000000"/>
      <p:regular r:id="rId20"/>
    </p:embeddedFont>
    <p:embeddedFont>
      <p:font typeface="Poppins" charset="1" panose="00000500000000000000"/>
      <p:regular r:id="rId21"/>
    </p:embeddedFont>
    <p:embeddedFont>
      <p:font typeface="Literata Bold" charset="1" panose="000000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https://tfg-outfitmatch.streamlit.app" TargetMode="External" Type="http://schemas.openxmlformats.org/officeDocument/2006/relationships/hyperlink"/><Relationship Id="rId5" Target="https://tfg-outfitmatch.streamlit.app" TargetMode="External" Type="http://schemas.openxmlformats.org/officeDocument/2006/relationships/hyperlink"/><Relationship Id="rId6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3085" y="3491895"/>
            <a:ext cx="17589710" cy="266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24"/>
              </a:lnSpc>
            </a:pPr>
            <a:r>
              <a:rPr lang="en-US" sz="11571" spc="-3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OutfitMatch:</a:t>
            </a:r>
          </a:p>
          <a:p>
            <a:pPr algn="ctr">
              <a:lnSpc>
                <a:spcPts val="9382"/>
              </a:lnSpc>
            </a:pPr>
            <a:r>
              <a:rPr lang="en-US" sz="9672" spc="-251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Combinació de prendes de roba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5510341" y="7960283"/>
            <a:ext cx="7315200" cy="3684201"/>
          </a:xfrm>
          <a:custGeom>
            <a:avLst/>
            <a:gdLst/>
            <a:ahLst/>
            <a:cxnLst/>
            <a:rect r="r" b="b" t="t" l="l"/>
            <a:pathLst>
              <a:path h="3684201" w="7315200">
                <a:moveTo>
                  <a:pt x="0" y="0"/>
                </a:moveTo>
                <a:lnTo>
                  <a:pt x="7315200" y="0"/>
                </a:lnTo>
                <a:lnTo>
                  <a:pt x="7315200" y="3684200"/>
                </a:lnTo>
                <a:lnTo>
                  <a:pt x="0" y="3684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true" rot="0">
            <a:off x="-3657600" y="0"/>
            <a:ext cx="7315200" cy="3684201"/>
          </a:xfrm>
          <a:custGeom>
            <a:avLst/>
            <a:gdLst/>
            <a:ahLst/>
            <a:cxnLst/>
            <a:rect r="r" b="b" t="t" l="l"/>
            <a:pathLst>
              <a:path h="3684201" w="7315200">
                <a:moveTo>
                  <a:pt x="0" y="3684201"/>
                </a:moveTo>
                <a:lnTo>
                  <a:pt x="7315200" y="3684201"/>
                </a:lnTo>
                <a:lnTo>
                  <a:pt x="7315200" y="0"/>
                </a:lnTo>
                <a:lnTo>
                  <a:pt x="0" y="0"/>
                </a:lnTo>
                <a:lnTo>
                  <a:pt x="0" y="36842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4630400" y="0"/>
            <a:ext cx="7315200" cy="3684201"/>
          </a:xfrm>
          <a:custGeom>
            <a:avLst/>
            <a:gdLst/>
            <a:ahLst/>
            <a:cxnLst/>
            <a:rect r="r" b="b" t="t" l="l"/>
            <a:pathLst>
              <a:path h="3684201" w="7315200">
                <a:moveTo>
                  <a:pt x="0" y="3684201"/>
                </a:moveTo>
                <a:lnTo>
                  <a:pt x="7315200" y="3684201"/>
                </a:lnTo>
                <a:lnTo>
                  <a:pt x="7315200" y="0"/>
                </a:lnTo>
                <a:lnTo>
                  <a:pt x="0" y="0"/>
                </a:lnTo>
                <a:lnTo>
                  <a:pt x="0" y="36842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8826082" y="1318997"/>
            <a:ext cx="683717" cy="683717"/>
            <a:chOff x="0" y="0"/>
            <a:chExt cx="911623" cy="9116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1623" cy="911623"/>
            </a:xfrm>
            <a:custGeom>
              <a:avLst/>
              <a:gdLst/>
              <a:ahLst/>
              <a:cxnLst/>
              <a:rect r="r" b="b" t="t" l="l"/>
              <a:pathLst>
                <a:path h="911623" w="911623">
                  <a:moveTo>
                    <a:pt x="0" y="0"/>
                  </a:moveTo>
                  <a:lnTo>
                    <a:pt x="911623" y="0"/>
                  </a:lnTo>
                  <a:lnTo>
                    <a:pt x="911623" y="911623"/>
                  </a:lnTo>
                  <a:lnTo>
                    <a:pt x="0" y="9116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199538" y="201058"/>
              <a:ext cx="537947" cy="531973"/>
              <a:chOff x="0" y="0"/>
              <a:chExt cx="106261" cy="10508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6261" cy="105081"/>
              </a:xfrm>
              <a:custGeom>
                <a:avLst/>
                <a:gdLst/>
                <a:ahLst/>
                <a:cxnLst/>
                <a:rect r="r" b="b" t="t" l="l"/>
                <a:pathLst>
                  <a:path h="105081" w="106261">
                    <a:moveTo>
                      <a:pt x="0" y="0"/>
                    </a:moveTo>
                    <a:lnTo>
                      <a:pt x="106261" y="0"/>
                    </a:lnTo>
                    <a:lnTo>
                      <a:pt x="106261" y="105081"/>
                    </a:lnTo>
                    <a:lnTo>
                      <a:pt x="0" y="105081"/>
                    </a:lnTo>
                    <a:close/>
                  </a:path>
                </a:pathLst>
              </a:custGeom>
              <a:solidFill>
                <a:srgbClr val="E6ED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04775"/>
                <a:ext cx="106261" cy="2098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87866" y="337325"/>
              <a:ext cx="735892" cy="236973"/>
            </a:xfrm>
            <a:custGeom>
              <a:avLst/>
              <a:gdLst/>
              <a:ahLst/>
              <a:cxnLst/>
              <a:rect r="r" b="b" t="t" l="l"/>
              <a:pathLst>
                <a:path h="236973" w="735892">
                  <a:moveTo>
                    <a:pt x="0" y="0"/>
                  </a:moveTo>
                  <a:lnTo>
                    <a:pt x="735892" y="0"/>
                  </a:lnTo>
                  <a:lnTo>
                    <a:pt x="735892" y="236973"/>
                  </a:lnTo>
                  <a:lnTo>
                    <a:pt x="0" y="2369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269" t="-7250" r="-25971" b="-11338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002372" y="6389348"/>
            <a:ext cx="12283255" cy="638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4200" spc="4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ENGINYERIA INFORMÀTICA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397918"/>
            <a:ext cx="4923679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60"/>
              </a:lnSpc>
              <a:spcBef>
                <a:spcPct val="0"/>
              </a:spcBef>
            </a:pPr>
            <a:r>
              <a:rPr lang="en-US" sz="29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Autor: Jill Palma Garro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28329" y="8397918"/>
            <a:ext cx="5730971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Tutor:  Sergio Bachiller Rubia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06075" y="2193214"/>
            <a:ext cx="4075851" cy="62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2"/>
              </a:lnSpc>
            </a:pPr>
            <a:r>
              <a:rPr lang="en-US" sz="1978" spc="-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Universitat Autònoma de Barcelona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0047" y="1222360"/>
            <a:ext cx="15127906" cy="100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76"/>
              </a:lnSpc>
              <a:spcBef>
                <a:spcPct val="0"/>
              </a:spcBef>
            </a:pPr>
            <a:r>
              <a:rPr lang="en-US" b="true" sz="7200">
                <a:solidFill>
                  <a:srgbClr val="231F20"/>
                </a:solidFill>
                <a:latin typeface="Literata Bold"/>
                <a:ea typeface="Literata Bold"/>
                <a:cs typeface="Literata Bold"/>
                <a:sym typeface="Literata Bold"/>
              </a:rPr>
              <a:t>Introducció i O</a:t>
            </a:r>
            <a:r>
              <a:rPr lang="en-US" b="true" sz="7200" strike="noStrike" u="none">
                <a:solidFill>
                  <a:srgbClr val="231F20"/>
                </a:solidFill>
                <a:latin typeface="Literata Bold"/>
                <a:ea typeface="Literata Bold"/>
                <a:cs typeface="Literata Bold"/>
                <a:sym typeface="Literata Bold"/>
              </a:rPr>
              <a:t>bjectius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68090" y="3201724"/>
            <a:ext cx="10339863" cy="450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7666" indent="-343833" lvl="1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Construir un model capaç de recomanar peces de vestir a partir de l'entrada d'una altra</a:t>
            </a:r>
          </a:p>
          <a:p>
            <a:pPr algn="l" marL="687666" indent="-343833" lvl="1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Investigar sistemes de recomanació mitjançant aprenentatge profund</a:t>
            </a:r>
          </a:p>
          <a:p>
            <a:pPr algn="l" marL="687666" indent="-343833" lvl="1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Desenvolupar una interfície/demo on provar el model</a:t>
            </a:r>
          </a:p>
          <a:p>
            <a:pPr algn="l" marL="687666" indent="-343833" lvl="1">
              <a:lnSpc>
                <a:spcPts val="4459"/>
              </a:lnSpc>
              <a:buFont typeface="Arial"/>
              <a:buChar char="•"/>
            </a:pPr>
            <a:r>
              <a:rPr lang="en-US" sz="3185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Fer comparativa entre la recomanació humana i amb altres models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580047" y="2241725"/>
            <a:ext cx="14917196" cy="0"/>
          </a:xfrm>
          <a:prstGeom prst="line">
            <a:avLst/>
          </a:prstGeom>
          <a:ln cap="flat" w="28575">
            <a:solidFill>
              <a:srgbClr val="4764A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024605" y="3535452"/>
            <a:ext cx="4121206" cy="3918892"/>
          </a:xfrm>
          <a:custGeom>
            <a:avLst/>
            <a:gdLst/>
            <a:ahLst/>
            <a:cxnLst/>
            <a:rect r="r" b="b" t="t" l="l"/>
            <a:pathLst>
              <a:path h="3918892" w="4121206">
                <a:moveTo>
                  <a:pt x="0" y="0"/>
                </a:moveTo>
                <a:lnTo>
                  <a:pt x="4121206" y="0"/>
                </a:lnTo>
                <a:lnTo>
                  <a:pt x="4121206" y="3918892"/>
                </a:lnTo>
                <a:lnTo>
                  <a:pt x="0" y="3918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6153" y="1219200"/>
            <a:ext cx="15655695" cy="90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200" b="true">
                <a:solidFill>
                  <a:srgbClr val="231F20"/>
                </a:solidFill>
                <a:latin typeface="Literata Bold"/>
                <a:ea typeface="Literata Bold"/>
                <a:cs typeface="Literata Bold"/>
                <a:sym typeface="Literata Bold"/>
              </a:rPr>
              <a:t>Sistemes de Recomanació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631515" y="3178872"/>
            <a:ext cx="936058" cy="936058"/>
            <a:chOff x="0" y="0"/>
            <a:chExt cx="1248078" cy="12480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48078" cy="1248078"/>
            </a:xfrm>
            <a:custGeom>
              <a:avLst/>
              <a:gdLst/>
              <a:ahLst/>
              <a:cxnLst/>
              <a:rect r="r" b="b" t="t" l="l"/>
              <a:pathLst>
                <a:path h="1248078" w="1248078">
                  <a:moveTo>
                    <a:pt x="0" y="0"/>
                  </a:moveTo>
                  <a:lnTo>
                    <a:pt x="1248078" y="0"/>
                  </a:lnTo>
                  <a:lnTo>
                    <a:pt x="1248078" y="1248078"/>
                  </a:lnTo>
                  <a:lnTo>
                    <a:pt x="0" y="124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360494" y="-41184"/>
              <a:ext cx="527090" cy="1187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3"/>
                </a:lnSpc>
              </a:pPr>
              <a:r>
                <a:rPr lang="en-US" sz="5152">
                  <a:solidFill>
                    <a:srgbClr val="E6EDFF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90048" y="3178872"/>
            <a:ext cx="936058" cy="936058"/>
            <a:chOff x="0" y="0"/>
            <a:chExt cx="1248078" cy="1248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8078" cy="1248078"/>
            </a:xfrm>
            <a:custGeom>
              <a:avLst/>
              <a:gdLst/>
              <a:ahLst/>
              <a:cxnLst/>
              <a:rect r="r" b="b" t="t" l="l"/>
              <a:pathLst>
                <a:path h="1248078" w="1248078">
                  <a:moveTo>
                    <a:pt x="0" y="0"/>
                  </a:moveTo>
                  <a:lnTo>
                    <a:pt x="1248078" y="0"/>
                  </a:lnTo>
                  <a:lnTo>
                    <a:pt x="1248078" y="1248078"/>
                  </a:lnTo>
                  <a:lnTo>
                    <a:pt x="0" y="124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457415" y="-41184"/>
              <a:ext cx="333248" cy="1187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3"/>
                </a:lnSpc>
              </a:pPr>
              <a:r>
                <a:rPr lang="en-US" sz="5152">
                  <a:solidFill>
                    <a:srgbClr val="E6EDFF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252249" y="6322027"/>
            <a:ext cx="936058" cy="936058"/>
            <a:chOff x="0" y="0"/>
            <a:chExt cx="1248078" cy="12480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48078" cy="1248078"/>
            </a:xfrm>
            <a:custGeom>
              <a:avLst/>
              <a:gdLst/>
              <a:ahLst/>
              <a:cxnLst/>
              <a:rect r="r" b="b" t="t" l="l"/>
              <a:pathLst>
                <a:path h="1248078" w="1248078">
                  <a:moveTo>
                    <a:pt x="0" y="0"/>
                  </a:moveTo>
                  <a:lnTo>
                    <a:pt x="1248078" y="0"/>
                  </a:lnTo>
                  <a:lnTo>
                    <a:pt x="1248078" y="1248078"/>
                  </a:lnTo>
                  <a:lnTo>
                    <a:pt x="0" y="124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47701" y="-41184"/>
              <a:ext cx="552675" cy="1187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3"/>
                </a:lnSpc>
              </a:pPr>
              <a:r>
                <a:rPr lang="en-US" sz="5152">
                  <a:solidFill>
                    <a:srgbClr val="E6EDFF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72873" y="3178872"/>
            <a:ext cx="936058" cy="936058"/>
            <a:chOff x="0" y="0"/>
            <a:chExt cx="1248078" cy="12480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8078" cy="1248078"/>
            </a:xfrm>
            <a:custGeom>
              <a:avLst/>
              <a:gdLst/>
              <a:ahLst/>
              <a:cxnLst/>
              <a:rect r="r" b="b" t="t" l="l"/>
              <a:pathLst>
                <a:path h="1248078" w="1248078">
                  <a:moveTo>
                    <a:pt x="0" y="0"/>
                  </a:moveTo>
                  <a:lnTo>
                    <a:pt x="1248078" y="0"/>
                  </a:lnTo>
                  <a:lnTo>
                    <a:pt x="1248078" y="1248078"/>
                  </a:lnTo>
                  <a:lnTo>
                    <a:pt x="0" y="124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360494" y="-41184"/>
              <a:ext cx="527090" cy="1187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3"/>
                </a:lnSpc>
              </a:pPr>
              <a:r>
                <a:rPr lang="en-US" sz="5152">
                  <a:solidFill>
                    <a:srgbClr val="E6EDFF"/>
                  </a:solidFill>
                  <a:latin typeface="Poppins"/>
                  <a:ea typeface="Poppins"/>
                  <a:cs typeface="Poppins"/>
                  <a:sym typeface="Poppins"/>
                </a:rPr>
                <a:t>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009586" y="6322027"/>
            <a:ext cx="936058" cy="936058"/>
            <a:chOff x="0" y="0"/>
            <a:chExt cx="1248078" cy="12480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8078" cy="1248078"/>
            </a:xfrm>
            <a:custGeom>
              <a:avLst/>
              <a:gdLst/>
              <a:ahLst/>
              <a:cxnLst/>
              <a:rect r="r" b="b" t="t" l="l"/>
              <a:pathLst>
                <a:path h="1248078" w="1248078">
                  <a:moveTo>
                    <a:pt x="0" y="0"/>
                  </a:moveTo>
                  <a:lnTo>
                    <a:pt x="1248078" y="0"/>
                  </a:lnTo>
                  <a:lnTo>
                    <a:pt x="1248078" y="1248078"/>
                  </a:lnTo>
                  <a:lnTo>
                    <a:pt x="0" y="124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334011" y="-41184"/>
              <a:ext cx="527090" cy="1187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3"/>
                </a:lnSpc>
              </a:pPr>
              <a:r>
                <a:rPr lang="en-US" sz="5152">
                  <a:solidFill>
                    <a:srgbClr val="E6EDFF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328724" y="7438064"/>
            <a:ext cx="2783107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Filtrat Contextual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06698" y="7438064"/>
            <a:ext cx="3141835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Models Híbrids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41866" y="4443542"/>
            <a:ext cx="4598073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Filtrat Basat en Contingut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27612" y="4443542"/>
            <a:ext cx="4543864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Filtrat Col·laboratiu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65471" y="4443542"/>
            <a:ext cx="2985214" cy="565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</a:pPr>
            <a:r>
              <a:rPr lang="en-US" b="true" sz="3600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Popularitat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72018" y="627101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0">
            <a:off x="14310251" y="627101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flipV="true">
            <a:off x="1580047" y="2241725"/>
            <a:ext cx="14917196" cy="0"/>
          </a:xfrm>
          <a:prstGeom prst="line">
            <a:avLst/>
          </a:prstGeom>
          <a:ln cap="flat" w="28575">
            <a:solidFill>
              <a:srgbClr val="4764A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4673" y="3499954"/>
            <a:ext cx="5132528" cy="5045697"/>
            <a:chOff x="0" y="0"/>
            <a:chExt cx="6843371" cy="672759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2565" t="0" r="12565" b="0"/>
            <a:stretch>
              <a:fillRect/>
            </a:stretch>
          </p:blipFill>
          <p:spPr>
            <a:xfrm flipH="false" flipV="false">
              <a:off x="0" y="0"/>
              <a:ext cx="1615593" cy="2157865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2565" t="0" r="12565" b="0"/>
            <a:stretch>
              <a:fillRect/>
            </a:stretch>
          </p:blipFill>
          <p:spPr>
            <a:xfrm flipH="false" flipV="false">
              <a:off x="1742593" y="0"/>
              <a:ext cx="1615593" cy="2157865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2565" t="0" r="12565" b="0"/>
            <a:stretch>
              <a:fillRect/>
            </a:stretch>
          </p:blipFill>
          <p:spPr>
            <a:xfrm flipH="false" flipV="false">
              <a:off x="3485186" y="0"/>
              <a:ext cx="1615593" cy="2157865"/>
            </a:xfrm>
            <a:prstGeom prst="rect">
              <a:avLst/>
            </a:prstGeom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5"/>
            <a:srcRect l="12565" t="0" r="12565" b="0"/>
            <a:stretch>
              <a:fillRect/>
            </a:stretch>
          </p:blipFill>
          <p:spPr>
            <a:xfrm flipH="false" flipV="false">
              <a:off x="5227778" y="0"/>
              <a:ext cx="1615593" cy="2157865"/>
            </a:xfrm>
            <a:prstGeom prst="rect">
              <a:avLst/>
            </a:prstGeom>
          </p:spPr>
        </p:pic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6"/>
            <a:srcRect l="12565" t="0" r="12565" b="0"/>
            <a:stretch>
              <a:fillRect/>
            </a:stretch>
          </p:blipFill>
          <p:spPr>
            <a:xfrm flipH="false" flipV="false">
              <a:off x="0" y="2284865"/>
              <a:ext cx="1615593" cy="2157865"/>
            </a:xfrm>
            <a:prstGeom prst="rect">
              <a:avLst/>
            </a:prstGeom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7"/>
            <a:srcRect l="0" t="5506" r="0" b="5506"/>
            <a:stretch>
              <a:fillRect/>
            </a:stretch>
          </p:blipFill>
          <p:spPr>
            <a:xfrm flipH="false" flipV="false">
              <a:off x="1742593" y="2284865"/>
              <a:ext cx="1615593" cy="2157865"/>
            </a:xfrm>
            <a:prstGeom prst="rect">
              <a:avLst/>
            </a:prstGeom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8"/>
            <a:srcRect l="12565" t="0" r="12565" b="0"/>
            <a:stretch>
              <a:fillRect/>
            </a:stretch>
          </p:blipFill>
          <p:spPr>
            <a:xfrm flipH="false" flipV="false">
              <a:off x="3485186" y="2284865"/>
              <a:ext cx="1615593" cy="2157865"/>
            </a:xfrm>
            <a:prstGeom prst="rect">
              <a:avLst/>
            </a:prstGeom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9"/>
            <a:srcRect l="0" t="3001" r="0" b="3001"/>
            <a:stretch>
              <a:fillRect/>
            </a:stretch>
          </p:blipFill>
          <p:spPr>
            <a:xfrm flipH="false" flipV="false">
              <a:off x="5227778" y="2284865"/>
              <a:ext cx="1615593" cy="2157865"/>
            </a:xfrm>
            <a:prstGeom prst="rect">
              <a:avLst/>
            </a:prstGeom>
          </p:spPr>
        </p:pic>
        <p:pic>
          <p:nvPicPr>
            <p:cNvPr name="Picture 11" id="11"/>
            <p:cNvPicPr>
              <a:picLocks noChangeAspect="true"/>
            </p:cNvPicPr>
            <p:nvPr/>
          </p:nvPicPr>
          <p:blipFill>
            <a:blip r:embed="rId10"/>
            <a:srcRect l="12565" t="0" r="12565" b="0"/>
            <a:stretch>
              <a:fillRect/>
            </a:stretch>
          </p:blipFill>
          <p:spPr>
            <a:xfrm flipH="false" flipV="false">
              <a:off x="0" y="4569730"/>
              <a:ext cx="1615593" cy="2157865"/>
            </a:xfrm>
            <a:prstGeom prst="rect">
              <a:avLst/>
            </a:prstGeom>
          </p:spPr>
        </p:pic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11"/>
            <a:srcRect l="0" t="5559" r="0" b="5559"/>
            <a:stretch>
              <a:fillRect/>
            </a:stretch>
          </p:blipFill>
          <p:spPr>
            <a:xfrm flipH="false" flipV="false">
              <a:off x="1742593" y="4569730"/>
              <a:ext cx="1615593" cy="2157865"/>
            </a:xfrm>
            <a:prstGeom prst="rect">
              <a:avLst/>
            </a:prstGeom>
          </p:spPr>
        </p:pic>
        <p:pic>
          <p:nvPicPr>
            <p:cNvPr name="Picture 13" id="13"/>
            <p:cNvPicPr>
              <a:picLocks noChangeAspect="true"/>
            </p:cNvPicPr>
            <p:nvPr/>
          </p:nvPicPr>
          <p:blipFill>
            <a:blip r:embed="rId12"/>
            <a:srcRect l="12565" t="0" r="12565" b="0"/>
            <a:stretch>
              <a:fillRect/>
            </a:stretch>
          </p:blipFill>
          <p:spPr>
            <a:xfrm flipH="false" flipV="false">
              <a:off x="3485186" y="4569730"/>
              <a:ext cx="1615593" cy="2157865"/>
            </a:xfrm>
            <a:prstGeom prst="rect">
              <a:avLst/>
            </a:prstGeom>
          </p:spPr>
        </p:pic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13"/>
            <a:srcRect l="5566" t="0" r="5566" b="0"/>
            <a:stretch>
              <a:fillRect/>
            </a:stretch>
          </p:blipFill>
          <p:spPr>
            <a:xfrm flipH="false" flipV="false">
              <a:off x="5227778" y="4569730"/>
              <a:ext cx="1615593" cy="2157865"/>
            </a:xfrm>
            <a:prstGeom prst="rect">
              <a:avLst/>
            </a:prstGeom>
          </p:spPr>
        </p:pic>
      </p:grpSp>
      <p:sp>
        <p:nvSpPr>
          <p:cNvPr name="AutoShape 15" id="15"/>
          <p:cNvSpPr/>
          <p:nvPr/>
        </p:nvSpPr>
        <p:spPr>
          <a:xfrm flipH="true" flipV="true">
            <a:off x="7093174" y="2697184"/>
            <a:ext cx="7928" cy="12154460"/>
          </a:xfrm>
          <a:prstGeom prst="line">
            <a:avLst/>
          </a:prstGeom>
          <a:ln cap="flat" w="28575">
            <a:solidFill>
              <a:srgbClr val="4764AA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141206" y="2936537"/>
            <a:ext cx="11037920" cy="5992288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651195" y="1219200"/>
            <a:ext cx="14985609" cy="90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6"/>
              </a:lnSpc>
              <a:spcBef>
                <a:spcPct val="0"/>
              </a:spcBef>
            </a:pPr>
            <a:r>
              <a:rPr lang="en-US" b="true" sz="7200" strike="noStrike" u="none">
                <a:solidFill>
                  <a:srgbClr val="231F20"/>
                </a:solidFill>
                <a:latin typeface="Literata Bold"/>
                <a:ea typeface="Literata Bold"/>
                <a:cs typeface="Literata Bold"/>
                <a:sym typeface="Literata Bold"/>
              </a:rPr>
              <a:t>Dataset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90618" y="2524634"/>
            <a:ext cx="9739098" cy="52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3032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Preprocesament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2490314"/>
            <a:ext cx="6064474" cy="52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3032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Fashion Product Images</a:t>
            </a:r>
          </a:p>
        </p:txBody>
      </p:sp>
      <p:sp>
        <p:nvSpPr>
          <p:cNvPr name="TextBox 20" id="20"/>
          <p:cNvSpPr txBox="true"/>
          <p:nvPr/>
        </p:nvSpPr>
        <p:spPr>
          <a:xfrm rot="-5400000">
            <a:off x="4433868" y="5745418"/>
            <a:ext cx="6470994" cy="37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233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Nombre de valors únics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041751" y="3481837"/>
            <a:ext cx="9217549" cy="37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233" strike="noStrike" u="none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Comparativa de valors únics per columna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41751" y="8081003"/>
            <a:ext cx="9217549" cy="37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233" strike="noStrike" u="none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Columnes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449883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8137" y="4456369"/>
            <a:ext cx="8951726" cy="15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3"/>
              </a:lnSpc>
            </a:pPr>
            <a:r>
              <a:rPr lang="en-US" sz="10799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Autoencoder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3313422" y="0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72329" y="1690643"/>
            <a:ext cx="11886971" cy="6905715"/>
          </a:xfrm>
          <a:custGeom>
            <a:avLst/>
            <a:gdLst/>
            <a:ahLst/>
            <a:cxnLst/>
            <a:rect r="r" b="b" t="t" l="l"/>
            <a:pathLst>
              <a:path h="6905715" w="11886971">
                <a:moveTo>
                  <a:pt x="0" y="0"/>
                </a:moveTo>
                <a:lnTo>
                  <a:pt x="11886971" y="0"/>
                </a:lnTo>
                <a:lnTo>
                  <a:pt x="11886971" y="6905714"/>
                </a:lnTo>
                <a:lnTo>
                  <a:pt x="0" y="6905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4" t="0" r="-2974" b="0"/>
            </a:stretch>
          </a:blipFill>
          <a:ln w="38100" cap="sq">
            <a:solidFill>
              <a:srgbClr val="2A3D6B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448175"/>
            <a:ext cx="413175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2A3D6B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CONCEPTE GENERAL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-61601" y="-1236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61601" y="-12369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77698" y="1325399"/>
            <a:ext cx="10181602" cy="7636201"/>
          </a:xfrm>
          <a:custGeom>
            <a:avLst/>
            <a:gdLst/>
            <a:ahLst/>
            <a:cxnLst/>
            <a:rect r="r" b="b" t="t" l="l"/>
            <a:pathLst>
              <a:path h="7636201" w="10181602">
                <a:moveTo>
                  <a:pt x="0" y="0"/>
                </a:moveTo>
                <a:lnTo>
                  <a:pt x="10181602" y="0"/>
                </a:lnTo>
                <a:lnTo>
                  <a:pt x="10181602" y="7636202"/>
                </a:lnTo>
                <a:lnTo>
                  <a:pt x="0" y="7636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2A3D6B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4448175"/>
            <a:ext cx="6048998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2A3D6B"/>
                </a:solidFill>
                <a:latin typeface="Poppins Bold"/>
                <a:ea typeface="Poppins Bold"/>
                <a:cs typeface="Poppins Bold"/>
                <a:sym typeface="Poppins Bold"/>
              </a:rPr>
              <a:t>OUTFITMATCH: </a:t>
            </a:r>
          </a:p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2A3D6B"/>
                </a:solidFill>
                <a:latin typeface="Poppins Bold"/>
                <a:ea typeface="Poppins Bold"/>
                <a:cs typeface="Poppins Bold"/>
                <a:sym typeface="Poppins Bold"/>
              </a:rPr>
              <a:t>AUTOENCODER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449883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8137" y="3718181"/>
            <a:ext cx="8951726" cy="298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3"/>
              </a:lnSpc>
            </a:pPr>
            <a:r>
              <a:rPr lang="en-US" sz="10799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Xarxes Siameses</a:t>
            </a:r>
            <a:r>
              <a:rPr lang="en-US" sz="10799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3313422" y="0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11280"/>
            <a:ext cx="415237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2A3D6B"/>
                </a:solidFill>
                <a:latin typeface="Poppins Bold"/>
                <a:ea typeface="Poppins Bold"/>
                <a:cs typeface="Poppins Bold"/>
                <a:sym typeface="Poppins Bold"/>
              </a:rPr>
              <a:t>CONCEPTE GENERAL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-1666424" y="7819365"/>
            <a:ext cx="4183253" cy="4114800"/>
          </a:xfrm>
          <a:custGeom>
            <a:avLst/>
            <a:gdLst/>
            <a:ahLst/>
            <a:cxnLst/>
            <a:rect r="r" b="b" t="t" l="l"/>
            <a:pathLst>
              <a:path h="4114800" w="4183253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404626" y="1364326"/>
            <a:ext cx="11854674" cy="7558349"/>
          </a:xfrm>
          <a:custGeom>
            <a:avLst/>
            <a:gdLst/>
            <a:ahLst/>
            <a:cxnLst/>
            <a:rect r="r" b="b" t="t" l="l"/>
            <a:pathLst>
              <a:path h="7558349" w="11854674">
                <a:moveTo>
                  <a:pt x="0" y="0"/>
                </a:moveTo>
                <a:lnTo>
                  <a:pt x="11854674" y="0"/>
                </a:lnTo>
                <a:lnTo>
                  <a:pt x="11854674" y="7558348"/>
                </a:lnTo>
                <a:lnTo>
                  <a:pt x="0" y="7558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2A3D6B"/>
            </a:solidFill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666424" y="7819365"/>
            <a:ext cx="4183253" cy="4114800"/>
          </a:xfrm>
          <a:custGeom>
            <a:avLst/>
            <a:gdLst/>
            <a:ahLst/>
            <a:cxnLst/>
            <a:rect r="r" b="b" t="t" l="l"/>
            <a:pathLst>
              <a:path h="4114800" w="4183253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4448175"/>
            <a:ext cx="7244697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6000" strike="noStrike" u="sng">
                <a:solidFill>
                  <a:srgbClr val="2A3D6B"/>
                </a:solidFill>
                <a:latin typeface="Poppins Bold"/>
                <a:ea typeface="Poppins Bold"/>
                <a:cs typeface="Poppins Bold"/>
                <a:sym typeface="Poppins Bold"/>
                <a:hlinkClick r:id="rId4" tooltip="https://tfg-outfitmatch.streamlit.app"/>
              </a:rPr>
              <a:t>OUTFITMATCH: </a:t>
            </a:r>
          </a:p>
          <a:p>
            <a:pPr algn="just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6000" strike="noStrike" u="sng">
                <a:solidFill>
                  <a:srgbClr val="2A3D6B"/>
                </a:solidFill>
                <a:latin typeface="Poppins Bold"/>
                <a:ea typeface="Poppins Bold"/>
                <a:cs typeface="Poppins Bold"/>
                <a:sym typeface="Poppins Bold"/>
                <a:hlinkClick r:id="rId5" tooltip="https://tfg-outfitmatch.streamlit.app"/>
              </a:rPr>
              <a:t>XARXES SIAMESES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111450" y="1543142"/>
            <a:ext cx="9147850" cy="7200717"/>
          </a:xfrm>
          <a:custGeom>
            <a:avLst/>
            <a:gdLst/>
            <a:ahLst/>
            <a:cxnLst/>
            <a:rect r="r" b="b" t="t" l="l"/>
            <a:pathLst>
              <a:path h="7200717" w="9147850">
                <a:moveTo>
                  <a:pt x="0" y="0"/>
                </a:moveTo>
                <a:lnTo>
                  <a:pt x="9147850" y="0"/>
                </a:lnTo>
                <a:lnTo>
                  <a:pt x="9147850" y="7200716"/>
                </a:lnTo>
                <a:lnTo>
                  <a:pt x="0" y="7200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2A3D6B"/>
            </a:solidFill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449883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68137" y="4456369"/>
            <a:ext cx="8951726" cy="15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63"/>
              </a:lnSpc>
            </a:pPr>
            <a:r>
              <a:rPr lang="en-US" sz="10799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Avaluació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3313422" y="0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9129712" y="1028700"/>
            <a:ext cx="0" cy="13231988"/>
          </a:xfrm>
          <a:prstGeom prst="line">
            <a:avLst/>
          </a:prstGeom>
          <a:ln cap="flat" w="28575">
            <a:solidFill>
              <a:srgbClr val="4764AA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72386" y="2356797"/>
            <a:ext cx="7626070" cy="691630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85415" y="2356797"/>
            <a:ext cx="7626070" cy="6916309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3372" y="1054579"/>
            <a:ext cx="6959578" cy="1517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</a:pPr>
            <a:r>
              <a:rPr lang="en-US" sz="3032" b="tru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Comparació de Consistència amb les Regles entre Models </a:t>
            </a:r>
          </a:p>
          <a:p>
            <a:pPr algn="ctr" marL="0" indent="0" lvl="0">
              <a:lnSpc>
                <a:spcPts val="3912"/>
              </a:lnSpc>
            </a:pPr>
            <a:r>
              <a:rPr lang="en-US" b="true" sz="3032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(Llindar: 0.6)</a:t>
            </a:r>
          </a:p>
        </p:txBody>
      </p:sp>
      <p:sp>
        <p:nvSpPr>
          <p:cNvPr name="TextBox 6" id="6"/>
          <p:cNvSpPr txBox="true"/>
          <p:nvPr/>
        </p:nvSpPr>
        <p:spPr>
          <a:xfrm rot="-5400000">
            <a:off x="-2415546" y="5627688"/>
            <a:ext cx="7936163" cy="37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233" strike="noStrike" u="none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Percentatge que superen el llindar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96475" y="1054579"/>
            <a:ext cx="6879505" cy="102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3032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Comparació de similitud de cosinus entre Models (Llindar: 0.6)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6077557" y="5627688"/>
            <a:ext cx="7936163" cy="37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233" strike="noStrike" u="none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Percentatge que superen el llindar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0921" y="8883773"/>
            <a:ext cx="6355058" cy="37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233">
                <a:solidFill>
                  <a:srgbClr val="231F20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6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5973" y="3930935"/>
            <a:ext cx="6420601" cy="5136481"/>
          </a:xfrm>
          <a:custGeom>
            <a:avLst/>
            <a:gdLst/>
            <a:ahLst/>
            <a:cxnLst/>
            <a:rect r="r" b="b" t="t" l="l"/>
            <a:pathLst>
              <a:path h="5136481" w="6420601">
                <a:moveTo>
                  <a:pt x="0" y="0"/>
                </a:moveTo>
                <a:lnTo>
                  <a:pt x="6420600" y="0"/>
                </a:lnTo>
                <a:lnTo>
                  <a:pt x="6420600" y="5136480"/>
                </a:lnTo>
                <a:lnTo>
                  <a:pt x="0" y="513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2A3D6B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993140" y="3930935"/>
            <a:ext cx="6420601" cy="5136481"/>
          </a:xfrm>
          <a:custGeom>
            <a:avLst/>
            <a:gdLst/>
            <a:ahLst/>
            <a:cxnLst/>
            <a:rect r="r" b="b" t="t" l="l"/>
            <a:pathLst>
              <a:path h="5136481" w="6420601">
                <a:moveTo>
                  <a:pt x="0" y="0"/>
                </a:moveTo>
                <a:lnTo>
                  <a:pt x="6420601" y="0"/>
                </a:lnTo>
                <a:lnTo>
                  <a:pt x="6420601" y="5136480"/>
                </a:lnTo>
                <a:lnTo>
                  <a:pt x="0" y="5136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2A3D6B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651195" y="1559903"/>
            <a:ext cx="14985609" cy="904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6"/>
              </a:lnSpc>
            </a:pPr>
            <a:r>
              <a:rPr lang="en-US" sz="7200">
                <a:solidFill>
                  <a:srgbClr val="231F20"/>
                </a:solidFill>
                <a:latin typeface="Literata"/>
                <a:ea typeface="Literata"/>
                <a:cs typeface="Literata"/>
                <a:sym typeface="Literata"/>
              </a:rPr>
              <a:t>Embeddings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33409" y="2902185"/>
            <a:ext cx="3740064" cy="52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3032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Autoencoder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91030" y="2902185"/>
            <a:ext cx="3650486" cy="52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2"/>
              </a:lnSpc>
              <a:spcBef>
                <a:spcPct val="0"/>
              </a:spcBef>
            </a:pPr>
            <a:r>
              <a:rPr lang="en-US" b="true" sz="3032" strike="noStrike" u="none">
                <a:solidFill>
                  <a:srgbClr val="231F20"/>
                </a:solidFill>
                <a:latin typeface="Poppins Bold"/>
                <a:ea typeface="Poppins Bold"/>
                <a:cs typeface="Poppins Bold"/>
                <a:sym typeface="Poppins Bold"/>
              </a:rPr>
              <a:t>Xarxes Siameses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9144000" y="2968860"/>
            <a:ext cx="15857" cy="12156847"/>
          </a:xfrm>
          <a:prstGeom prst="line">
            <a:avLst/>
          </a:prstGeom>
          <a:ln cap="flat" w="28575">
            <a:solidFill>
              <a:srgbClr val="4764A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197" y="-449883"/>
            <a:ext cx="3945878" cy="11186766"/>
          </a:xfrm>
          <a:custGeom>
            <a:avLst/>
            <a:gdLst/>
            <a:ahLst/>
            <a:cxnLst/>
            <a:rect r="r" b="b" t="t" l="l"/>
            <a:pathLst>
              <a:path h="11186766" w="3945878">
                <a:moveTo>
                  <a:pt x="0" y="0"/>
                </a:moveTo>
                <a:lnTo>
                  <a:pt x="3945878" y="0"/>
                </a:lnTo>
                <a:lnTo>
                  <a:pt x="3945878" y="11186766"/>
                </a:lnTo>
                <a:lnTo>
                  <a:pt x="0" y="1118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36990" y="4698182"/>
            <a:ext cx="3418400" cy="4114800"/>
          </a:xfrm>
          <a:custGeom>
            <a:avLst/>
            <a:gdLst/>
            <a:ahLst/>
            <a:cxnLst/>
            <a:rect r="r" b="b" t="t" l="l"/>
            <a:pathLst>
              <a:path h="4114800" w="3418400">
                <a:moveTo>
                  <a:pt x="0" y="0"/>
                </a:moveTo>
                <a:lnTo>
                  <a:pt x="3418400" y="0"/>
                </a:lnTo>
                <a:lnTo>
                  <a:pt x="3418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12961" y="4068641"/>
            <a:ext cx="5604583" cy="2686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1" indent="-334641" lvl="1">
              <a:lnSpc>
                <a:spcPts val="5362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Objectius complits</a:t>
            </a:r>
          </a:p>
          <a:p>
            <a:pPr algn="l" marL="669281" indent="-334641" lvl="1">
              <a:lnSpc>
                <a:spcPts val="5362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Limitacions trobades</a:t>
            </a:r>
          </a:p>
          <a:p>
            <a:pPr algn="l" marL="669281" indent="-334641" lvl="1">
              <a:lnSpc>
                <a:spcPts val="5362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Millores </a:t>
            </a:r>
          </a:p>
          <a:p>
            <a:pPr algn="l" marL="669281" indent="-334641" lvl="1">
              <a:lnSpc>
                <a:spcPts val="5362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Agraiments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12961" y="2652642"/>
            <a:ext cx="5462078" cy="100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7200">
                <a:solidFill>
                  <a:srgbClr val="FFFFFF"/>
                </a:solidFill>
                <a:latin typeface="Literata"/>
                <a:ea typeface="Literata"/>
                <a:cs typeface="Literata"/>
                <a:sym typeface="Literata"/>
              </a:rPr>
              <a:t>Conclusions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DAGfdO08T1I</dc:identifier>
  <dcterms:modified xsi:type="dcterms:W3CDTF">2011-08-01T06:04:30Z</dcterms:modified>
  <cp:revision>1</cp:revision>
  <dc:title>TFG</dc:title>
</cp:coreProperties>
</file>